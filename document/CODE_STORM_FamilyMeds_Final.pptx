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522BD3D-9CA3-0BEF-B433-A5107A91B687}">
          <p14:sldIdLst>
            <p14:sldId id="256"/>
          </p14:sldIdLst>
        </p14:section>
        <p14:section name="Problem and Objectives" id="{AB5AD4C1-142C-EE70-A560-803C65B8A1F7}">
          <p14:sldIdLst>
            <p14:sldId id="257"/>
            <p14:sldId id="258"/>
          </p14:sldIdLst>
        </p14:section>
        <p14:section name="Tech Stack" id="{18C795C2-B70D-4A51-378B-5C0B388CF43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66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six team detail fields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Add or remove objective rows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Edit, add or remove flow blocks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Click to edit title</a:t>
            </a: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Click to edit title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Name"/>
          <p:cNvSpPr txBox="1"/>
          <p:nvPr/>
        </p:nvSpPr>
        <p:spPr>
          <a:xfrm>
            <a:off x="548640" y="8686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INNOVATION IGNITE SYMPOSIUM 2.0</a:t>
            </a:r>
            <a:endParaRPr lang="en-US" sz="14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CODE STORM</a:t>
            </a:r>
            <a:endParaRPr lang="en-US" sz="5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MINI HACKATHON — PROJECT PRESENTATION</a:t>
            </a:r>
            <a:endParaRPr lang="en-US" sz="18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31089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IDEATE · INNOVATE · IMPLEMENT</a:t>
            </a:r>
            <a:endParaRPr lang="en-US" sz="1400" dirty="0"/>
          </a:p>
        </p:txBody>
      </p:sp>
      <p:sp>
        <p:nvSpPr>
          <p:cNvPr id="6" name="Institution"/>
          <p:cNvSpPr txBox="1"/>
          <p:nvPr/>
        </p:nvSpPr>
        <p:spPr>
          <a:xfrm>
            <a:off x="548640" y="41148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Shridevi Institute of Engineering and Technology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Science &amp; Engineering</a:t>
            </a:r>
            <a:endParaRPr lang="en-US" sz="1600" dirty="0"/>
          </a:p>
        </p:txBody>
      </p:sp>
      <p:sp>
        <p:nvSpPr>
          <p:cNvPr id="7" name="Details Panel"/>
          <p:cNvSpPr/>
          <p:nvPr/>
        </p:nvSpPr>
        <p:spPr>
          <a:xfrm>
            <a:off x="7223760" y="640080"/>
            <a:ext cx="4416552" cy="5120640"/>
          </a:xfrm>
          <a:prstGeom prst="roundRect">
            <a:avLst>
              <a:gd name="adj" fmla="val 1242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Details Heading Node"/>
          <p:cNvSpPr/>
          <p:nvPr/>
        </p:nvSpPr>
        <p:spPr>
          <a:xfrm>
            <a:off x="7543800" y="93726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Details Heading"/>
          <p:cNvSpPr txBox="1"/>
          <p:nvPr/>
        </p:nvSpPr>
        <p:spPr>
          <a:xfrm>
            <a:off x="7772400" y="868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10" name="Label PROJECT TITLE"/>
          <p:cNvSpPr txBox="1"/>
          <p:nvPr/>
        </p:nvSpPr>
        <p:spPr>
          <a:xfrm>
            <a:off x="7543800" y="13258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PROJECT TITLE</a:t>
            </a:r>
            <a:endParaRPr lang="en-US" sz="1100" dirty="0"/>
          </a:p>
        </p:txBody>
      </p:sp>
      <p:sp>
        <p:nvSpPr>
          <p:cNvPr id="11" name="Field PROJECT TITLE"/>
          <p:cNvSpPr txBox="1"/>
          <p:nvPr/>
        </p:nvSpPr>
        <p:spPr>
          <a:xfrm>
            <a:off x="7543800" y="15544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 err="1">
                <a:solidFill>
                  <a:schemeClr val="bg1"/>
                </a:solidFill>
              </a:rPr>
              <a:t>FamilyMeds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2" name="Field Divider 1"/>
          <p:cNvSpPr/>
          <p:nvPr/>
        </p:nvSpPr>
        <p:spPr>
          <a:xfrm>
            <a:off x="7543800" y="196596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Label TEAM NAME"/>
          <p:cNvSpPr txBox="1"/>
          <p:nvPr/>
        </p:nvSpPr>
        <p:spPr>
          <a:xfrm>
            <a:off x="7543800" y="205740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4" name="Field TEAM NAME"/>
          <p:cNvSpPr txBox="1"/>
          <p:nvPr/>
        </p:nvSpPr>
        <p:spPr>
          <a:xfrm>
            <a:off x="7543800" y="22860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>
                <a:solidFill>
                  <a:schemeClr val="bg1"/>
                </a:solidFill>
              </a:rPr>
              <a:t>Elite Evolvers</a:t>
            </a:r>
          </a:p>
        </p:txBody>
      </p:sp>
      <p:sp>
        <p:nvSpPr>
          <p:cNvPr id="15" name="Field Divider 2"/>
          <p:cNvSpPr/>
          <p:nvPr/>
        </p:nvSpPr>
        <p:spPr>
          <a:xfrm>
            <a:off x="7543800" y="269748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Label TEAM ID"/>
          <p:cNvSpPr txBox="1"/>
          <p:nvPr/>
        </p:nvSpPr>
        <p:spPr>
          <a:xfrm>
            <a:off x="7543800" y="278892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ID</a:t>
            </a:r>
            <a:endParaRPr lang="en-US" sz="1100" dirty="0"/>
          </a:p>
        </p:txBody>
      </p:sp>
      <p:sp>
        <p:nvSpPr>
          <p:cNvPr id="17" name="Field TEAM ID"/>
          <p:cNvSpPr txBox="1"/>
          <p:nvPr/>
        </p:nvSpPr>
        <p:spPr>
          <a:xfrm>
            <a:off x="7543800" y="301752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>
                <a:solidFill>
                  <a:schemeClr val="bg1"/>
                </a:solidFill>
              </a:rPr>
              <a:t>MHC09</a:t>
            </a:r>
          </a:p>
        </p:txBody>
      </p:sp>
      <p:sp>
        <p:nvSpPr>
          <p:cNvPr id="18" name="Field Divider 3"/>
          <p:cNvSpPr/>
          <p:nvPr/>
        </p:nvSpPr>
        <p:spPr>
          <a:xfrm>
            <a:off x="7543800" y="342900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Label DOMAIN"/>
          <p:cNvSpPr txBox="1"/>
          <p:nvPr/>
        </p:nvSpPr>
        <p:spPr>
          <a:xfrm>
            <a:off x="7543800" y="352044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DOMAIN</a:t>
            </a:r>
            <a:endParaRPr lang="en-US" sz="1100" dirty="0"/>
          </a:p>
        </p:txBody>
      </p:sp>
      <p:sp>
        <p:nvSpPr>
          <p:cNvPr id="20" name="Field DOMAIN"/>
          <p:cNvSpPr txBox="1"/>
          <p:nvPr/>
        </p:nvSpPr>
        <p:spPr>
          <a:xfrm>
            <a:off x="7543800" y="37490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>
                <a:solidFill>
                  <a:schemeClr val="bg1"/>
                </a:solidFill>
              </a:rPr>
              <a:t>Healthcare Technology</a:t>
            </a:r>
          </a:p>
        </p:txBody>
      </p:sp>
      <p:sp>
        <p:nvSpPr>
          <p:cNvPr id="21" name="Field Divider 4"/>
          <p:cNvSpPr/>
          <p:nvPr/>
        </p:nvSpPr>
        <p:spPr>
          <a:xfrm>
            <a:off x="7543800" y="416052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Label TEAM LEADER"/>
          <p:cNvSpPr txBox="1"/>
          <p:nvPr/>
        </p:nvSpPr>
        <p:spPr>
          <a:xfrm>
            <a:off x="7543800" y="425196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23" name="Field TEAM LEADER"/>
          <p:cNvSpPr txBox="1"/>
          <p:nvPr/>
        </p:nvSpPr>
        <p:spPr>
          <a:xfrm>
            <a:off x="7543800" y="44805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>
                <a:solidFill>
                  <a:schemeClr val="bg1"/>
                </a:solidFill>
              </a:rPr>
              <a:t>Abhilash K R</a:t>
            </a:r>
          </a:p>
        </p:txBody>
      </p:sp>
      <p:sp>
        <p:nvSpPr>
          <p:cNvPr id="24" name="Field Divider 5"/>
          <p:cNvSpPr/>
          <p:nvPr/>
        </p:nvSpPr>
        <p:spPr>
          <a:xfrm>
            <a:off x="7543800" y="489204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Label TEAM MEMBERS"/>
          <p:cNvSpPr txBox="1"/>
          <p:nvPr/>
        </p:nvSpPr>
        <p:spPr>
          <a:xfrm>
            <a:off x="7543800" y="49834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26" name="Field TEAM MEMBERS"/>
          <p:cNvSpPr txBox="1"/>
          <p:nvPr/>
        </p:nvSpPr>
        <p:spPr>
          <a:xfrm>
            <a:off x="7543800" y="5212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 dirty="0" err="1">
                <a:solidFill>
                  <a:schemeClr val="bg1"/>
                </a:solidFill>
              </a:rPr>
              <a:t>Laxuman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7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01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02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Problem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Problem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Problem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Description</a:t>
            </a:r>
            <a:endParaRPr lang="en-US" sz="1300" dirty="0"/>
          </a:p>
        </p:txBody>
      </p:sp>
      <p:sp>
        <p:nvSpPr>
          <p:cNvPr id="9" name="Problem Lead"/>
          <p:cNvSpPr txBox="1"/>
          <p:nvPr/>
        </p:nvSpPr>
        <p:spPr>
          <a:xfrm>
            <a:off x="82296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b="1" dirty="0">
                <a:solidFill>
                  <a:schemeClr val="bg1"/>
                </a:solidFill>
              </a:rPr>
              <a:t>Many elderly parents in villages take daily medicines but miss doses due to age and memory slips, while their children in cities have no reliable way to verify adherence.</a:t>
            </a:r>
          </a:p>
        </p:txBody>
      </p:sp>
      <p:sp>
        <p:nvSpPr>
          <p:cNvPr id="10" name="Problem Details"/>
          <p:cNvSpPr txBox="1"/>
          <p:nvPr/>
        </p:nvSpPr>
        <p:spPr>
          <a:xfrm>
            <a:off x="822960" y="3840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Context: </a:t>
            </a:r>
            <a:r>
              <a:rPr sz="1200" b="0" dirty="0">
                <a:solidFill>
                  <a:schemeClr val="bg1"/>
                </a:solidFill>
              </a:rPr>
              <a:t>Chronic illnesses (BP, diabetes) require strict daily doses. Rural elders struggle with small English text on blister strips and complex smartphone menus.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The Gap: </a:t>
            </a:r>
            <a:r>
              <a:rPr sz="1200" b="0" dirty="0">
                <a:solidFill>
                  <a:schemeClr val="bg1"/>
                </a:solidFill>
              </a:rPr>
              <a:t>Working children must repeatedly call to check, yet have no verified log. Doctors are forced to make dosage decisions based on patient memory rather than data.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Evidence: </a:t>
            </a:r>
            <a:r>
              <a:rPr sz="1200" b="0" dirty="0">
                <a:solidFill>
                  <a:schemeClr val="bg1"/>
                </a:solidFill>
              </a:rPr>
              <a:t>LASI study (2,840 older Indian adults) found medication adherence averages only 51%. NFHS/ICMR data reveals 68.7% of hypertension is undiagnosed or uncontrolled.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Card Target Users &amp; Stakeholders"/>
          <p:cNvSpPr/>
          <p:nvPr/>
        </p:nvSpPr>
        <p:spPr>
          <a:xfrm>
            <a:off x="5257800" y="16916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Heading Target Users &amp; Stakeholders Node"/>
          <p:cNvSpPr/>
          <p:nvPr/>
        </p:nvSpPr>
        <p:spPr>
          <a:xfrm>
            <a:off x="5532120" y="19156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Heading Target Users &amp;amp; Stakeholders"/>
          <p:cNvSpPr txBox="1"/>
          <p:nvPr/>
        </p:nvSpPr>
        <p:spPr>
          <a:xfrm>
            <a:off x="5760720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Target Users &amp; Stakeholders</a:t>
            </a:r>
            <a:endParaRPr lang="en-US" sz="1300" dirty="0"/>
          </a:p>
        </p:txBody>
      </p:sp>
      <p:sp>
        <p:nvSpPr>
          <p:cNvPr id="14" name="Body Target Users &amp; Stakeholders"/>
          <p:cNvSpPr txBox="1"/>
          <p:nvPr/>
        </p:nvSpPr>
        <p:spPr>
          <a:xfrm>
            <a:off x="5532120" y="22219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Primary Users: </a:t>
            </a:r>
            <a:r>
              <a:rPr sz="1200" b="0" dirty="0">
                <a:solidFill>
                  <a:schemeClr val="bg1"/>
                </a:solidFill>
              </a:rPr>
              <a:t>Elderly rural parents (60+ yrs, non-English speaking) &amp; adult children working in cities.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Secondary Stakeholders: </a:t>
            </a:r>
            <a:r>
              <a:rPr sz="1200" b="0" dirty="0">
                <a:solidFill>
                  <a:schemeClr val="bg1"/>
                </a:solidFill>
              </a:rPr>
              <a:t>Consulting physicians (need real adherence logs) &amp; primary healthcare workers.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Card Why the Problem Matters"/>
          <p:cNvSpPr/>
          <p:nvPr/>
        </p:nvSpPr>
        <p:spPr>
          <a:xfrm>
            <a:off x="5257800" y="31775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Heading Why the Problem Matters Node"/>
          <p:cNvSpPr/>
          <p:nvPr/>
        </p:nvSpPr>
        <p:spPr>
          <a:xfrm>
            <a:off x="5532120" y="34015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Heading Why the Problem Matters"/>
          <p:cNvSpPr txBox="1"/>
          <p:nvPr/>
        </p:nvSpPr>
        <p:spPr>
          <a:xfrm>
            <a:off x="5760720" y="33329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the Problem Matters</a:t>
            </a:r>
            <a:endParaRPr lang="en-US" sz="1300" dirty="0"/>
          </a:p>
        </p:txBody>
      </p:sp>
      <p:sp>
        <p:nvSpPr>
          <p:cNvPr id="18" name="Body Why the Problem Matters"/>
          <p:cNvSpPr txBox="1"/>
          <p:nvPr/>
        </p:nvSpPr>
        <p:spPr>
          <a:xfrm>
            <a:off x="5532120" y="37078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Health Consequence: </a:t>
            </a:r>
            <a:r>
              <a:rPr sz="1200" b="0" dirty="0">
                <a:solidFill>
                  <a:schemeClr val="bg1"/>
                </a:solidFill>
              </a:rPr>
              <a:t>Forgetfulness is the #1 driver of missed doses. Uncontrolled BP dramatically raises stroke and cardiovascular risks.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Economic Burden: </a:t>
            </a:r>
            <a:r>
              <a:rPr sz="1200" b="0" dirty="0">
                <a:solidFill>
                  <a:schemeClr val="bg1"/>
                </a:solidFill>
              </a:rPr>
              <a:t>NSSO data shows one stroke hospitalization costs ₹40,360 average (median ₹17,140)—catastrophic for rural families.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Card Limitations of Existing Solutions"/>
          <p:cNvSpPr/>
          <p:nvPr/>
        </p:nvSpPr>
        <p:spPr>
          <a:xfrm>
            <a:off x="5257800" y="46634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Heading Limitations of Existing Solutions Node"/>
          <p:cNvSpPr/>
          <p:nvPr/>
        </p:nvSpPr>
        <p:spPr>
          <a:xfrm>
            <a:off x="5532120" y="48874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Heading Limitations of Existing Solutions"/>
          <p:cNvSpPr txBox="1"/>
          <p:nvPr/>
        </p:nvSpPr>
        <p:spPr>
          <a:xfrm>
            <a:off x="5760720" y="4818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 of Existing Solutions</a:t>
            </a:r>
            <a:endParaRPr lang="en-US" sz="1300" dirty="0"/>
          </a:p>
        </p:txBody>
      </p:sp>
      <p:sp>
        <p:nvSpPr>
          <p:cNvPr id="22" name="Body Limitations of Existing Solutions"/>
          <p:cNvSpPr txBox="1"/>
          <p:nvPr/>
        </p:nvSpPr>
        <p:spPr>
          <a:xfrm>
            <a:off x="5532120" y="5193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Digital Barrier: </a:t>
            </a:r>
            <a:r>
              <a:rPr sz="1200" b="0" dirty="0">
                <a:solidFill>
                  <a:schemeClr val="bg1"/>
                </a:solidFill>
              </a:rPr>
              <a:t>Existing reminder apps require reading English and navigating complex settings, alienating rural seniors.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Broken Loop: </a:t>
            </a:r>
            <a:r>
              <a:rPr sz="1200" b="0" dirty="0">
                <a:solidFill>
                  <a:schemeClr val="bg1"/>
                </a:solidFill>
              </a:rPr>
              <a:t>Standard alarms stay isolated on the patient's phone; when dismissed or ignored, the family is never alerted.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GOALS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03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Main Objective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Main Objective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Main Objective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9" name="Main Objective Lead"/>
          <p:cNvSpPr txBox="1"/>
          <p:nvPr/>
        </p:nvSpPr>
        <p:spPr>
          <a:xfrm>
            <a:off x="82296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b="1" dirty="0">
                <a:solidFill>
                  <a:schemeClr val="bg1"/>
                </a:solidFill>
              </a:rPr>
              <a:t>To deliver a zero-text, family-connected medication adherence system designed specifically for elderly rural parents and their remote caregivers.</a:t>
            </a:r>
          </a:p>
        </p:txBody>
      </p:sp>
      <p:sp>
        <p:nvSpPr>
          <p:cNvPr id="10" name="Success Heading Node"/>
          <p:cNvSpPr/>
          <p:nvPr/>
        </p:nvSpPr>
        <p:spPr>
          <a:xfrm>
            <a:off x="822960" y="409194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uccess Heading"/>
          <p:cNvSpPr txBox="1"/>
          <p:nvPr/>
        </p:nvSpPr>
        <p:spPr>
          <a:xfrm>
            <a:off x="105156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12" name="Success Body"/>
          <p:cNvSpPr txBox="1"/>
          <p:nvPr/>
        </p:nvSpPr>
        <p:spPr>
          <a:xfrm>
            <a:off x="822960" y="44348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1. Zero-Friction Adherence: </a:t>
            </a:r>
            <a:r>
              <a:rPr sz="1200" b="0" dirty="0">
                <a:solidFill>
                  <a:schemeClr val="bg1"/>
                </a:solidFill>
              </a:rPr>
              <a:t>Elders take medicines reliably via Kannada voice prompts and blister-strip photos with a single tap.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2. Family Safety Net: </a:t>
            </a:r>
            <a:r>
              <a:rPr sz="1200" b="0" dirty="0">
                <a:solidFill>
                  <a:schemeClr val="bg1"/>
                </a:solidFill>
              </a:rPr>
              <a:t>Caregivers get automated 30-min missed-dose alerts; doctors access a verifiable 14-day history chart.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Objective Card 1"/>
          <p:cNvSpPr/>
          <p:nvPr/>
        </p:nvSpPr>
        <p:spPr>
          <a:xfrm>
            <a:off x="5257800" y="169164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Objective Number 1"/>
          <p:cNvSpPr txBox="1"/>
          <p:nvPr/>
        </p:nvSpPr>
        <p:spPr>
          <a:xfrm>
            <a:off x="55321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Objective Divider 1"/>
          <p:cNvSpPr/>
          <p:nvPr/>
        </p:nvSpPr>
        <p:spPr>
          <a:xfrm>
            <a:off x="6355080" y="187452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6" name="Objective Text 1"/>
          <p:cNvSpPr txBox="1"/>
          <p:nvPr/>
        </p:nvSpPr>
        <p:spPr>
          <a:xfrm>
            <a:off x="6583680" y="1691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300" b="1" dirty="0">
                <a:solidFill>
                  <a:schemeClr val="bg1"/>
                </a:solidFill>
              </a:rPr>
              <a:t>Kannada Voice Assistance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100" b="0" dirty="0">
                <a:solidFill>
                  <a:schemeClr val="bg1"/>
                </a:solidFill>
              </a:rPr>
              <a:t>Speaks medicine name &amp; instructions in Kannada ('Amma, BP </a:t>
            </a:r>
            <a:r>
              <a:rPr sz="1100" b="0" dirty="0" err="1">
                <a:solidFill>
                  <a:schemeClr val="bg1"/>
                </a:solidFill>
              </a:rPr>
              <a:t>maathre</a:t>
            </a:r>
            <a:r>
              <a:rPr sz="1100" b="0" dirty="0">
                <a:solidFill>
                  <a:schemeClr val="bg1"/>
                </a:solidFill>
              </a:rPr>
              <a:t> </a:t>
            </a:r>
            <a:r>
              <a:rPr sz="1100" b="0" dirty="0" err="1">
                <a:solidFill>
                  <a:schemeClr val="bg1"/>
                </a:solidFill>
              </a:rPr>
              <a:t>thagoli</a:t>
            </a:r>
            <a:r>
              <a:rPr sz="1100" b="0" dirty="0">
                <a:solidFill>
                  <a:schemeClr val="bg1"/>
                </a:solidFill>
              </a:rPr>
              <a:t>') using on-device TTS.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Objective Card 2"/>
          <p:cNvSpPr/>
          <p:nvPr/>
        </p:nvSpPr>
        <p:spPr>
          <a:xfrm>
            <a:off x="5257800" y="278892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Objective Number 2"/>
          <p:cNvSpPr txBox="1"/>
          <p:nvPr/>
        </p:nvSpPr>
        <p:spPr>
          <a:xfrm>
            <a:off x="5532120" y="27889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Objective Divider 2"/>
          <p:cNvSpPr/>
          <p:nvPr/>
        </p:nvSpPr>
        <p:spPr>
          <a:xfrm>
            <a:off x="6355080" y="297180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0" name="Objective Text 2"/>
          <p:cNvSpPr txBox="1"/>
          <p:nvPr/>
        </p:nvSpPr>
        <p:spPr>
          <a:xfrm>
            <a:off x="658368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300" b="1" dirty="0">
                <a:solidFill>
                  <a:schemeClr val="bg1"/>
                </a:solidFill>
              </a:rPr>
              <a:t>Visual Strip Recognition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100" b="0" dirty="0">
                <a:solidFill>
                  <a:schemeClr val="bg1"/>
                </a:solidFill>
              </a:rPr>
              <a:t>Displays blister-pack photo on full screen so seniors match pills visually with zero confusion.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Objective Card 3"/>
          <p:cNvSpPr/>
          <p:nvPr/>
        </p:nvSpPr>
        <p:spPr>
          <a:xfrm>
            <a:off x="5257800" y="388620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Objective Number 3"/>
          <p:cNvSpPr txBox="1"/>
          <p:nvPr/>
        </p:nvSpPr>
        <p:spPr>
          <a:xfrm>
            <a:off x="5532120" y="3886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Objective Divider 3"/>
          <p:cNvSpPr/>
          <p:nvPr/>
        </p:nvSpPr>
        <p:spPr>
          <a:xfrm>
            <a:off x="6355080" y="406908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Objective Text 3"/>
          <p:cNvSpPr txBox="1"/>
          <p:nvPr/>
        </p:nvSpPr>
        <p:spPr>
          <a:xfrm>
            <a:off x="658368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300" b="1" dirty="0">
                <a:solidFill>
                  <a:schemeClr val="bg1"/>
                </a:solidFill>
              </a:rPr>
              <a:t>30-Min Family Escalation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100" b="0" dirty="0">
                <a:solidFill>
                  <a:schemeClr val="bg1"/>
                </a:solidFill>
              </a:rPr>
              <a:t>Automatically triggers an emergency alarm on the child's phone if 'Taken' is unpressed after 30 mins.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Objective Card 4"/>
          <p:cNvSpPr/>
          <p:nvPr/>
        </p:nvSpPr>
        <p:spPr>
          <a:xfrm>
            <a:off x="5257800" y="498348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Objective Number 4"/>
          <p:cNvSpPr txBox="1"/>
          <p:nvPr/>
        </p:nvSpPr>
        <p:spPr>
          <a:xfrm>
            <a:off x="5532120" y="4983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Objective Divider 4"/>
          <p:cNvSpPr/>
          <p:nvPr/>
        </p:nvSpPr>
        <p:spPr>
          <a:xfrm>
            <a:off x="6355080" y="516636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8" name="Objective Text 4"/>
          <p:cNvSpPr txBox="1"/>
          <p:nvPr/>
        </p:nvSpPr>
        <p:spPr>
          <a:xfrm>
            <a:off x="658368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300" b="1" dirty="0">
                <a:solidFill>
                  <a:schemeClr val="bg1"/>
                </a:solidFill>
              </a:rPr>
              <a:t>14-Day Clinical History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100" b="0" dirty="0">
                <a:solidFill>
                  <a:schemeClr val="bg1"/>
                </a:solidFill>
              </a:rPr>
              <a:t>Generates an aggregated compliance summary replacing patient guesswork during OPD doctor visits.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TOOLKIT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04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Flow Frame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7" name="Flow Heading Node"/>
          <p:cNvSpPr/>
          <p:nvPr/>
        </p:nvSpPr>
        <p:spPr>
          <a:xfrm>
            <a:off x="822960" y="189738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Flow Heading"/>
          <p:cNvSpPr txBox="1"/>
          <p:nvPr/>
        </p:nvSpPr>
        <p:spPr>
          <a:xfrm>
            <a:off x="1051560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 Flow</a:t>
            </a:r>
            <a:endParaRPr lang="en-US" sz="1300" dirty="0"/>
          </a:p>
        </p:txBody>
      </p:sp>
      <p:sp>
        <p:nvSpPr>
          <p:cNvPr id="9" name="Flow Hint"/>
          <p:cNvSpPr txBox="1"/>
          <p:nvPr/>
        </p:nvSpPr>
        <p:spPr>
          <a:xfrm>
            <a:off x="7680960" y="1828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</a:rPr>
              <a:t>Edit, add or remove blocks as needed</a:t>
            </a:r>
            <a:endParaRPr lang="en-US" sz="1100" dirty="0"/>
          </a:p>
        </p:txBody>
      </p:sp>
      <p:sp>
        <p:nvSpPr>
          <p:cNvPr id="10" name="Flow Node 1"/>
          <p:cNvSpPr/>
          <p:nvPr/>
        </p:nvSpPr>
        <p:spPr>
          <a:xfrm>
            <a:off x="777240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Label 1"/>
          <p:cNvSpPr txBox="1"/>
          <p:nvPr/>
        </p:nvSpPr>
        <p:spPr>
          <a:xfrm>
            <a:off x="8229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>
                <a:solidFill>
                  <a:schemeClr val="bg1"/>
                </a:solidFill>
              </a:rPr>
              <a:t>Child App</a:t>
            </a:r>
          </a:p>
          <a:p>
            <a:r>
              <a:rPr sz="1000" b="1" dirty="0">
                <a:solidFill>
                  <a:schemeClr val="bg1"/>
                </a:solidFill>
              </a:rPr>
              <a:t>(Remote Setup)</a:t>
            </a:r>
          </a:p>
        </p:txBody>
      </p:sp>
      <p:sp>
        <p:nvSpPr>
          <p:cNvPr id="12" name="Flow Arrow 1"/>
          <p:cNvSpPr/>
          <p:nvPr/>
        </p:nvSpPr>
        <p:spPr>
          <a:xfrm>
            <a:off x="2496312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Flow Node 2"/>
          <p:cNvSpPr/>
          <p:nvPr/>
        </p:nvSpPr>
        <p:spPr>
          <a:xfrm>
            <a:off x="3026664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low Label 2"/>
          <p:cNvSpPr txBox="1"/>
          <p:nvPr/>
        </p:nvSpPr>
        <p:spPr>
          <a:xfrm>
            <a:off x="3072384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>
                <a:solidFill>
                  <a:schemeClr val="bg1"/>
                </a:solidFill>
              </a:rPr>
              <a:t>Node Backend</a:t>
            </a:r>
          </a:p>
          <a:p>
            <a:r>
              <a:rPr sz="1000" b="1" dirty="0">
                <a:solidFill>
                  <a:schemeClr val="bg1"/>
                </a:solidFill>
              </a:rPr>
              <a:t>(REST API)</a:t>
            </a:r>
          </a:p>
        </p:txBody>
      </p:sp>
      <p:sp>
        <p:nvSpPr>
          <p:cNvPr id="15" name="Flow Arrow 2"/>
          <p:cNvSpPr/>
          <p:nvPr/>
        </p:nvSpPr>
        <p:spPr>
          <a:xfrm>
            <a:off x="4745736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Flow Node 3"/>
          <p:cNvSpPr/>
          <p:nvPr/>
        </p:nvSpPr>
        <p:spPr>
          <a:xfrm>
            <a:off x="5276088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 Label 3"/>
          <p:cNvSpPr txBox="1"/>
          <p:nvPr/>
        </p:nvSpPr>
        <p:spPr>
          <a:xfrm>
            <a:off x="5321808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>
                <a:solidFill>
                  <a:schemeClr val="bg1"/>
                </a:solidFill>
              </a:rPr>
              <a:t>Parent Phone</a:t>
            </a:r>
          </a:p>
          <a:p>
            <a:r>
              <a:rPr sz="1000" b="1" dirty="0">
                <a:solidFill>
                  <a:schemeClr val="bg1"/>
                </a:solidFill>
              </a:rPr>
              <a:t>(Offline Alarm)</a:t>
            </a:r>
          </a:p>
        </p:txBody>
      </p:sp>
      <p:sp>
        <p:nvSpPr>
          <p:cNvPr id="18" name="Flow Arrow 3"/>
          <p:cNvSpPr/>
          <p:nvPr/>
        </p:nvSpPr>
        <p:spPr>
          <a:xfrm>
            <a:off x="6995160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Flow Node 4"/>
          <p:cNvSpPr/>
          <p:nvPr/>
        </p:nvSpPr>
        <p:spPr>
          <a:xfrm>
            <a:off x="7525512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low Label 4"/>
          <p:cNvSpPr txBox="1"/>
          <p:nvPr/>
        </p:nvSpPr>
        <p:spPr>
          <a:xfrm>
            <a:off x="7571232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>
                <a:solidFill>
                  <a:schemeClr val="bg1"/>
                </a:solidFill>
              </a:rPr>
              <a:t>30-Min Timer</a:t>
            </a:r>
          </a:p>
          <a:p>
            <a:r>
              <a:rPr sz="1000" b="1" dirty="0">
                <a:solidFill>
                  <a:schemeClr val="bg1"/>
                </a:solidFill>
              </a:rPr>
              <a:t>(Safety Check)</a:t>
            </a:r>
          </a:p>
        </p:txBody>
      </p:sp>
      <p:sp>
        <p:nvSpPr>
          <p:cNvPr id="21" name="Flow Arrow 4"/>
          <p:cNvSpPr/>
          <p:nvPr/>
        </p:nvSpPr>
        <p:spPr>
          <a:xfrm>
            <a:off x="9244584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Flow Node 5"/>
          <p:cNvSpPr/>
          <p:nvPr/>
        </p:nvSpPr>
        <p:spPr>
          <a:xfrm>
            <a:off x="9774936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Label 5"/>
          <p:cNvSpPr txBox="1"/>
          <p:nvPr/>
        </p:nvSpPr>
        <p:spPr>
          <a:xfrm>
            <a:off x="9820656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 dirty="0">
                <a:solidFill>
                  <a:schemeClr val="bg1"/>
                </a:solidFill>
              </a:rPr>
              <a:t>Child Escalation</a:t>
            </a:r>
          </a:p>
          <a:p>
            <a:r>
              <a:rPr sz="1000" b="1" dirty="0">
                <a:solidFill>
                  <a:schemeClr val="bg1"/>
                </a:solidFill>
              </a:rPr>
              <a:t>(Alert Call)</a:t>
            </a:r>
          </a:p>
        </p:txBody>
      </p:sp>
      <p:sp>
        <p:nvSpPr>
          <p:cNvPr id="24" name="Stack Card Languages"/>
          <p:cNvSpPr/>
          <p:nvPr/>
        </p:nvSpPr>
        <p:spPr>
          <a:xfrm>
            <a:off x="548640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Stack Heading Languages Node"/>
          <p:cNvSpPr/>
          <p:nvPr/>
        </p:nvSpPr>
        <p:spPr>
          <a:xfrm>
            <a:off x="822960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tack Heading Languages"/>
          <p:cNvSpPr txBox="1"/>
          <p:nvPr/>
        </p:nvSpPr>
        <p:spPr>
          <a:xfrm>
            <a:off x="105156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27" name="Stack Body Languages"/>
          <p:cNvSpPr txBox="1"/>
          <p:nvPr/>
        </p:nvSpPr>
        <p:spPr>
          <a:xfrm>
            <a:off x="822960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JavaScript (ES6+) / TypeScript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Local Kannada Speech Corpus (TTS)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Stack Card Frameworks &amp; Libraries"/>
          <p:cNvSpPr/>
          <p:nvPr/>
        </p:nvSpPr>
        <p:spPr>
          <a:xfrm>
            <a:off x="4322369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9" name="Stack Heading Frameworks &amp; Libraries Node"/>
          <p:cNvSpPr/>
          <p:nvPr/>
        </p:nvSpPr>
        <p:spPr>
          <a:xfrm>
            <a:off x="4596689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Stack Heading Frameworks &amp;amp; Libraries"/>
          <p:cNvSpPr txBox="1"/>
          <p:nvPr/>
        </p:nvSpPr>
        <p:spPr>
          <a:xfrm>
            <a:off x="4825289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Frameworks &amp; Libraries</a:t>
            </a:r>
            <a:endParaRPr lang="en-US" sz="1300" dirty="0"/>
          </a:p>
        </p:txBody>
      </p:sp>
      <p:sp>
        <p:nvSpPr>
          <p:cNvPr id="31" name="Stack Body Frameworks &amp; Libraries"/>
          <p:cNvSpPr txBox="1"/>
          <p:nvPr/>
        </p:nvSpPr>
        <p:spPr>
          <a:xfrm>
            <a:off x="4596689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React Native with Expo (Dev Build)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Node.js &amp; Express.js REST Engine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Stack Card AI / ML Tools"/>
          <p:cNvSpPr/>
          <p:nvPr/>
        </p:nvSpPr>
        <p:spPr>
          <a:xfrm>
            <a:off x="8096098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3" name="Stack Heading AI / ML Tools Node"/>
          <p:cNvSpPr/>
          <p:nvPr/>
        </p:nvSpPr>
        <p:spPr>
          <a:xfrm>
            <a:off x="8370418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Stack Heading AI / ML Tools"/>
          <p:cNvSpPr txBox="1"/>
          <p:nvPr/>
        </p:nvSpPr>
        <p:spPr>
          <a:xfrm>
            <a:off x="8599018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/>
              <a:t>Novelty (Not Medical AI)</a:t>
            </a:r>
          </a:p>
        </p:txBody>
      </p:sp>
      <p:sp>
        <p:nvSpPr>
          <p:cNvPr id="35" name="Stack Body AI / ML Tools"/>
          <p:cNvSpPr txBox="1"/>
          <p:nvPr/>
        </p:nvSpPr>
        <p:spPr>
          <a:xfrm>
            <a:off x="8370418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00" b="1" dirty="0">
                <a:solidFill>
                  <a:schemeClr val="bg1"/>
                </a:solidFill>
              </a:rPr>
              <a:t>- Asymmetric Setup: </a:t>
            </a:r>
            <a:r>
              <a:rPr sz="1100" b="0" dirty="0">
                <a:solidFill>
                  <a:schemeClr val="bg1"/>
                </a:solidFill>
              </a:rPr>
              <a:t>Child handles 100% setup remotely; parent has zero menus or typing.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00" b="1" dirty="0">
                <a:solidFill>
                  <a:schemeClr val="bg1"/>
                </a:solidFill>
              </a:rPr>
              <a:t>- Elder-Centric UI: </a:t>
            </a:r>
            <a:r>
              <a:rPr sz="1100" b="0" dirty="0">
                <a:solidFill>
                  <a:schemeClr val="bg1"/>
                </a:solidFill>
              </a:rPr>
              <a:t>Kannada voice + strip photo + 1 big 'Taken' button.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sz="1100" b="1" dirty="0">
                <a:solidFill>
                  <a:schemeClr val="bg1"/>
                </a:solidFill>
              </a:rPr>
              <a:t>- Dead-Man Safety: </a:t>
            </a:r>
            <a:r>
              <a:rPr sz="1100" b="0" dirty="0">
                <a:solidFill>
                  <a:schemeClr val="bg1"/>
                </a:solidFill>
              </a:rPr>
              <a:t>30-min unacknowledged dose rings child's phone.</a:t>
            </a:r>
          </a:p>
        </p:txBody>
      </p:sp>
      <p:sp>
        <p:nvSpPr>
          <p:cNvPr id="36" name="Stack Card APIs &amp; Integrations"/>
          <p:cNvSpPr/>
          <p:nvPr/>
        </p:nvSpPr>
        <p:spPr>
          <a:xfrm>
            <a:off x="548640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Stack Heading APIs &amp; Integrations Node"/>
          <p:cNvSpPr/>
          <p:nvPr/>
        </p:nvSpPr>
        <p:spPr>
          <a:xfrm>
            <a:off x="822960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Stack Heading APIs &amp;amp; Integrations"/>
          <p:cNvSpPr txBox="1"/>
          <p:nvPr/>
        </p:nvSpPr>
        <p:spPr>
          <a:xfrm>
            <a:off x="1051560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APIs &amp; Integrations</a:t>
            </a:r>
            <a:endParaRPr lang="en-US" sz="1300" dirty="0"/>
          </a:p>
        </p:txBody>
      </p:sp>
      <p:sp>
        <p:nvSpPr>
          <p:cNvPr id="39" name="Stack Body APIs &amp; Integrations"/>
          <p:cNvSpPr txBox="1"/>
          <p:nvPr/>
        </p:nvSpPr>
        <p:spPr>
          <a:xfrm>
            <a:off x="822960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Android On-Device Text-to-Speech (TTS)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0" dirty="0">
                <a:solidFill>
                  <a:schemeClr val="bg1"/>
                </a:solidFill>
              </a:rPr>
              <a:t>- Firebase Cloud Messaging (FCM Push)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Stack Card Databases &amp; Storage"/>
          <p:cNvSpPr/>
          <p:nvPr/>
        </p:nvSpPr>
        <p:spPr>
          <a:xfrm>
            <a:off x="4322369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1" name="Stack Heading Databases &amp; Storage Node"/>
          <p:cNvSpPr/>
          <p:nvPr/>
        </p:nvSpPr>
        <p:spPr>
          <a:xfrm>
            <a:off x="4596689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2" name="Stack Heading Databases &amp;amp; Storage"/>
          <p:cNvSpPr txBox="1"/>
          <p:nvPr/>
        </p:nvSpPr>
        <p:spPr>
          <a:xfrm>
            <a:off x="4825289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Databases &amp; Storage</a:t>
            </a:r>
            <a:endParaRPr lang="en-US" sz="1300" dirty="0"/>
          </a:p>
        </p:txBody>
      </p:sp>
      <p:sp>
        <p:nvSpPr>
          <p:cNvPr id="43" name="Stack Body Databases &amp; Storage"/>
          <p:cNvSpPr txBox="1"/>
          <p:nvPr/>
        </p:nvSpPr>
        <p:spPr>
          <a:xfrm>
            <a:off x="4596689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- MongoDB Atlas: </a:t>
            </a:r>
            <a:r>
              <a:rPr sz="1100" b="0" dirty="0">
                <a:solidFill>
                  <a:schemeClr val="bg1"/>
                </a:solidFill>
              </a:rPr>
              <a:t>User, Link, Medicine, Schedule, </a:t>
            </a:r>
            <a:r>
              <a:rPr sz="1100" b="0" dirty="0" err="1">
                <a:solidFill>
                  <a:schemeClr val="bg1"/>
                </a:solidFill>
              </a:rPr>
              <a:t>DoseLog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 b="1" dirty="0">
                <a:solidFill>
                  <a:schemeClr val="bg1"/>
                </a:solidFill>
              </a:rPr>
              <a:t>- Local SQLite / Storage: </a:t>
            </a:r>
            <a:r>
              <a:rPr sz="1100" b="0" dirty="0">
                <a:solidFill>
                  <a:schemeClr val="bg1"/>
                </a:solidFill>
              </a:rPr>
              <a:t>Enables 100% offline alarm ringing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tack Card Tools &amp; Deployment"/>
          <p:cNvSpPr/>
          <p:nvPr/>
        </p:nvSpPr>
        <p:spPr>
          <a:xfrm>
            <a:off x="8096098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5" name="Stack Heading Tools &amp; Deployment Node"/>
          <p:cNvSpPr/>
          <p:nvPr/>
        </p:nvSpPr>
        <p:spPr>
          <a:xfrm>
            <a:off x="8370418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6" name="Stack Heading Tools &amp;amp; Deployment"/>
          <p:cNvSpPr txBox="1"/>
          <p:nvPr/>
        </p:nvSpPr>
        <p:spPr>
          <a:xfrm>
            <a:off x="8599018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Tools &amp; Deployment</a:t>
            </a:r>
            <a:endParaRPr lang="en-US" sz="1300" dirty="0"/>
          </a:p>
        </p:txBody>
      </p:sp>
      <p:sp>
        <p:nvSpPr>
          <p:cNvPr id="47" name="Stack Body Tools &amp; Deployment"/>
          <p:cNvSpPr txBox="1"/>
          <p:nvPr/>
        </p:nvSpPr>
        <p:spPr>
          <a:xfrm>
            <a:off x="8370418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00" b="1" dirty="0">
                <a:solidFill>
                  <a:schemeClr val="bg1"/>
                </a:solidFill>
              </a:rPr>
              <a:t>- Cloud Deployment: </a:t>
            </a:r>
            <a:r>
              <a:rPr sz="1100" b="0" dirty="0">
                <a:solidFill>
                  <a:schemeClr val="bg1"/>
                </a:solidFill>
              </a:rPr>
              <a:t>Render / Railway cloud API hosting.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00" b="1" dirty="0">
                <a:solidFill>
                  <a:schemeClr val="bg1"/>
                </a:solidFill>
              </a:rPr>
              <a:t>- Phase 2 Scope: </a:t>
            </a:r>
            <a:r>
              <a:rPr sz="1100" b="0" dirty="0">
                <a:solidFill>
                  <a:schemeClr val="bg1"/>
                </a:solidFill>
              </a:rPr>
              <a:t>Automated IVR/SMS fallback for non-smartphones.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sz="1100" b="1" dirty="0">
                <a:solidFill>
                  <a:schemeClr val="bg1"/>
                </a:solidFill>
              </a:rPr>
              <a:t>- Phase 3 Scope: </a:t>
            </a:r>
            <a:r>
              <a:rPr sz="1100" b="0" dirty="0">
                <a:solidFill>
                  <a:schemeClr val="bg1"/>
                </a:solidFill>
              </a:rPr>
              <a:t>Secondary escalation to village neighbor / ASHA worker.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Storm Cyber">
  <a:themeElements>
    <a:clrScheme name="Code Storm Cyber">
      <a:dk1>
        <a:srgbClr val="070D1C"/>
      </a:dk1>
      <a:lt1>
        <a:srgbClr val="FFFFFF"/>
      </a:lt1>
      <a:dk2>
        <a:srgbClr val="0F1B33"/>
      </a:dk2>
      <a:lt2>
        <a:srgbClr val="CFE3F5"/>
      </a:lt2>
      <a:accent1>
        <a:srgbClr val="22D3EE"/>
      </a:accent1>
      <a:accent2>
        <a:srgbClr val="8AA4C2"/>
      </a:accent2>
      <a:accent3>
        <a:srgbClr val="1E3556"/>
      </a:accent3>
      <a:accent4>
        <a:srgbClr val="0EA5C6"/>
      </a:accent4>
      <a:accent5>
        <a:srgbClr val="35557F"/>
      </a:accent5>
      <a:accent6>
        <a:srgbClr val="9BE8F7"/>
      </a:accent6>
      <a:hlink>
        <a:srgbClr val="22D3EE"/>
      </a:hlink>
      <a:folHlink>
        <a:srgbClr val="8AA4C2"/>
      </a:folHlink>
    </a:clrScheme>
    <a:fontScheme name="Code Storm Cy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794</Words>
  <Application>Microsoft Office PowerPoint</Application>
  <PresentationFormat>Widescreen</PresentationFormat>
  <Paragraphs>100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Code Storm Cyber</vt:lpstr>
      <vt:lpstr>CODE STORM</vt:lpstr>
      <vt:lpstr>Problem Statement</vt:lpstr>
      <vt:lpstr>Objectives</vt:lpstr>
      <vt:lpstr>Tech Stack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STORM - Participant Presentation Template</dc:title>
  <dc:subject>Innovation Ignite Symposium 2.0</dc:subject>
  <dc:creator>Department of CSE, SIET</dc:creator>
  <cp:lastModifiedBy>ABHILASH K R</cp:lastModifiedBy>
  <cp:revision>2</cp:revision>
  <dcterms:created xsi:type="dcterms:W3CDTF">2026-10-28T03:58:55Z</dcterms:created>
  <dcterms:modified xsi:type="dcterms:W3CDTF">2026-10-28T04:53:53Z</dcterms:modified>
</cp:coreProperties>
</file>